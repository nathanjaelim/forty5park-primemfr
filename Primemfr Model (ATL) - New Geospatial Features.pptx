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Comforta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22" Type="http://schemas.openxmlformats.org/officeDocument/2006/relationships/font" Target="fonts/Comfortaa-bold.fntdata"/><Relationship Id="rId10" Type="http://schemas.openxmlformats.org/officeDocument/2006/relationships/slide" Target="slides/slide5.xml"/><Relationship Id="rId21" Type="http://schemas.openxmlformats.org/officeDocument/2006/relationships/font" Target="fonts/Comforta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27a03392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527a03392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527a03392_0_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527a03392_0_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527a03392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527a03392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527a0339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527a0339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27a03392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527a03392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527a03392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527a03392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527a03392_0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527a03392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27a03392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527a03392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527a03392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527a03392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527a03392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527a03392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20"/>
              <a:t>Prime-MFR Geospatial Expansion</a:t>
            </a:r>
            <a:endParaRPr sz="4220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Nathan Lim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60950" y="4753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Presentation Roadmap</a:t>
            </a:r>
            <a:endParaRPr sz="3600"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998250" y="1932275"/>
            <a:ext cx="6137700" cy="2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Overview of model 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Walk through the features that improved the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Discuss the features that did not help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Next steps</a:t>
            </a:r>
            <a:endParaRPr/>
          </a:p>
        </p:txBody>
      </p:sp>
      <p:pic>
        <p:nvPicPr>
          <p:cNvPr id="75" name="Google Shape;75;p14" title="Screenshot 2026-07-22 at 2.24.0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25" y="1976150"/>
            <a:ext cx="8695973" cy="291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60950" y="4841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Overall MAE Decreased by </a:t>
            </a:r>
            <a:r>
              <a:rPr b="1" lang="en" sz="3600">
                <a:solidFill>
                  <a:srgbClr val="351C75"/>
                </a:solidFill>
              </a:rPr>
              <a:t>3.59%</a:t>
            </a:r>
            <a:endParaRPr b="1" sz="3600">
              <a:solidFill>
                <a:srgbClr val="351C75"/>
              </a:solidFill>
            </a:endParaRPr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273925" y="1939250"/>
            <a:ext cx="2560800" cy="28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Original Geospatial Features: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Distance to buckhead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Distance to midtown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Distance to downtown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Distance to atl airport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Min distance to landmark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82" name="Google Shape;82;p15"/>
          <p:cNvSpPr txBox="1"/>
          <p:nvPr/>
        </p:nvSpPr>
        <p:spPr>
          <a:xfrm>
            <a:off x="2789025" y="1885900"/>
            <a:ext cx="3154500" cy="3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Candidates for Feature Engineering:</a:t>
            </a:r>
            <a:endParaRPr b="1" sz="16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Georgia"/>
              <a:buChar char="●"/>
            </a:pPr>
            <a:r>
              <a:rPr lang="en" sz="16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Transit Score (MARTA)</a:t>
            </a:r>
            <a:endParaRPr sz="16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Georgia"/>
              <a:buChar char="●"/>
            </a:pPr>
            <a:r>
              <a:rPr lang="en" sz="16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Walk Score/POI Densities</a:t>
            </a:r>
            <a:endParaRPr sz="16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Georgia"/>
              <a:buChar char="●"/>
            </a:pPr>
            <a:r>
              <a:rPr lang="en" sz="16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Highway Proximity</a:t>
            </a:r>
            <a:endParaRPr sz="16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5661550" y="1939250"/>
            <a:ext cx="32463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Model Recommendations: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Alter the original 5 geospatial features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Add a Walk Score Feature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Some inconsequential features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4" name="Google Shape;84;p15" title="Screenshot 2026-07-20 at 11.28.5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988" y="1898388"/>
            <a:ext cx="8464020" cy="31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463125" y="633375"/>
            <a:ext cx="84054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30"/>
              <a:t>Dropping the “Downtown” and “Min Landmark” Features Improved </a:t>
            </a:r>
            <a:r>
              <a:rPr lang="en" sz="3030"/>
              <a:t>Accuracy by </a:t>
            </a:r>
            <a:r>
              <a:rPr b="1" lang="en" sz="3030">
                <a:solidFill>
                  <a:srgbClr val="351C75"/>
                </a:solidFill>
              </a:rPr>
              <a:t>1.28%</a:t>
            </a:r>
            <a:endParaRPr b="1" sz="3030">
              <a:solidFill>
                <a:srgbClr val="351C75"/>
              </a:solidFill>
            </a:endParaRPr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764250" y="2001225"/>
            <a:ext cx="4709100" cy="24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30258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1"/>
              <a:buChar char="●"/>
            </a:pPr>
            <a:r>
              <a:rPr b="1" lang="en" sz="1601"/>
              <a:t>Distance to Midtown/Downtown: Largely Redundant</a:t>
            </a:r>
            <a:endParaRPr b="1" sz="1601"/>
          </a:p>
          <a:p>
            <a:pPr indent="-30936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72"/>
              <a:buChar char="○"/>
            </a:pPr>
            <a:r>
              <a:rPr lang="en" sz="1272"/>
              <a:t>Midtown and Downtown are only ~ 2.5 miles apart</a:t>
            </a:r>
            <a:endParaRPr sz="1272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72"/>
          </a:p>
          <a:p>
            <a:pPr indent="-330258" lvl="0" marL="457200" rtl="0" algn="l">
              <a:spcBef>
                <a:spcPts val="1200"/>
              </a:spcBef>
              <a:spcAft>
                <a:spcPts val="0"/>
              </a:spcAft>
              <a:buSzPts val="1601"/>
              <a:buChar char="●"/>
            </a:pPr>
            <a:r>
              <a:rPr b="1" lang="en" sz="1601"/>
              <a:t>Min Distance to Landmark: </a:t>
            </a:r>
            <a:endParaRPr b="1" sz="1601"/>
          </a:p>
          <a:p>
            <a:pPr indent="-308335" lvl="1" marL="914400" rtl="0" algn="l">
              <a:spcBef>
                <a:spcPts val="0"/>
              </a:spcBef>
              <a:spcAft>
                <a:spcPts val="0"/>
              </a:spcAft>
              <a:buSzPts val="1256"/>
              <a:buChar char="○"/>
            </a:pPr>
            <a:r>
              <a:rPr lang="en" sz="1256"/>
              <a:t>Hundreds of future landmark points will be added</a:t>
            </a:r>
            <a:endParaRPr sz="1500">
              <a:solidFill>
                <a:srgbClr val="666666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764250" y="4472950"/>
            <a:ext cx="53265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B0B0B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92" name="Google Shape;92;p16" title="Screenshot 2026-07-19 at 10.43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25" y="2001225"/>
            <a:ext cx="2464551" cy="30121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724475" y="1701125"/>
            <a:ext cx="22032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Map of Current Landmarks</a:t>
            </a:r>
            <a:endParaRPr b="1" sz="1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6" title="Screenshot 2026-07-22 at 2.33.2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4350" y="2321200"/>
            <a:ext cx="6109649" cy="197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471900" y="677275"/>
            <a:ext cx="867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Changing Airport Feature to Categorical Reduced MAE by </a:t>
            </a:r>
            <a:r>
              <a:rPr b="1" lang="en">
                <a:solidFill>
                  <a:srgbClr val="351C75"/>
                </a:solidFill>
              </a:rPr>
              <a:t>1.20%</a:t>
            </a:r>
            <a:endParaRPr b="1">
              <a:solidFill>
                <a:srgbClr val="351C75"/>
              </a:solidFill>
            </a:endParaRPr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4777700" y="3169875"/>
            <a:ext cx="40311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br>
              <a:rPr lang="en" sz="100"/>
            </a:br>
            <a:br>
              <a:rPr lang="en" sz="100"/>
            </a:br>
            <a:br>
              <a:rPr lang="en" sz="100"/>
            </a:br>
            <a:br>
              <a:rPr lang="en" sz="100"/>
            </a:br>
            <a:br>
              <a:rPr lang="en" sz="100"/>
            </a:br>
            <a:br>
              <a:rPr lang="en" sz="100"/>
            </a:br>
            <a:br>
              <a:rPr lang="en" sz="100"/>
            </a:br>
            <a:br>
              <a:rPr lang="en" sz="100"/>
            </a:br>
            <a:endParaRPr sz="126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26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260"/>
          </a:p>
        </p:txBody>
      </p:sp>
      <p:sp>
        <p:nvSpPr>
          <p:cNvPr id="101" name="Google Shape;101;p17"/>
          <p:cNvSpPr txBox="1"/>
          <p:nvPr/>
        </p:nvSpPr>
        <p:spPr>
          <a:xfrm>
            <a:off x="4664650" y="4323550"/>
            <a:ext cx="44424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100">
                <a:solidFill>
                  <a:srgbClr val="303030"/>
                </a:solidFill>
                <a:latin typeface="Google Sans Flex Normal"/>
                <a:ea typeface="Google Sans Flex Normal"/>
                <a:cs typeface="Google Sans Flex Normal"/>
                <a:sym typeface="Google Sans Flex Normal"/>
              </a:rPr>
              <a:t>Not a strong linear correlation, but there is a clear sweet spot below which and above which distance doesn't necessarily help rent.</a:t>
            </a:r>
            <a:endParaRPr sz="105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17" title="Screenshot 2026-07-22 at 2.45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725" y="1775050"/>
            <a:ext cx="4351075" cy="272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Screenshot 2026-07-22 at 2.46.4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2775" y="1775050"/>
            <a:ext cx="3740950" cy="254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471900" y="694850"/>
            <a:ext cx="86034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3230"/>
              <a:t>Changing Airport Feature to Categorical Reduced MAE by </a:t>
            </a:r>
            <a:r>
              <a:rPr b="1" lang="en" sz="3230">
                <a:solidFill>
                  <a:srgbClr val="351C75"/>
                </a:solidFill>
              </a:rPr>
              <a:t>1.20%</a:t>
            </a:r>
            <a:endParaRPr b="1" sz="3680">
              <a:solidFill>
                <a:srgbClr val="351C75"/>
              </a:solidFill>
            </a:endParaRPr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5250525" y="2135600"/>
            <a:ext cx="3733200" cy="8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lang="en" sz="1260"/>
              <a:t>Recommendation: Add “airport zone” feature</a:t>
            </a:r>
            <a:br>
              <a:rPr b="1" lang="en" sz="1260"/>
            </a:br>
            <a:r>
              <a:rPr lang="en" sz="760"/>
              <a:t>Airport to rent relationship isn’t monotonic, which makes it hard for a continuous “dist_atl_airport” feature to discover the trends</a:t>
            </a:r>
            <a:endParaRPr/>
          </a:p>
        </p:txBody>
      </p:sp>
      <p:pic>
        <p:nvPicPr>
          <p:cNvPr id="110" name="Google Shape;110;p18" title="Screenshot 2026-07-15 at 5.24.0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25" y="1925375"/>
            <a:ext cx="4661551" cy="128024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4983475" y="3596675"/>
            <a:ext cx="3946800" cy="8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243775" y="3431675"/>
            <a:ext cx="4739700" cy="9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605"/>
              <a:buFont typeface="Arial"/>
              <a:buNone/>
            </a:pPr>
            <a:r>
              <a:rPr b="1" lang="en" sz="1048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Airport D</a:t>
            </a:r>
            <a:r>
              <a:rPr b="1" lang="en" sz="1048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istance feature</a:t>
            </a:r>
            <a:r>
              <a:rPr lang="en" sz="1048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:  distance from property to the ATL airport</a:t>
            </a:r>
            <a:br>
              <a:rPr lang="en" sz="1048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" sz="1048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048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Airport Zone feature</a:t>
            </a:r>
            <a:r>
              <a:rPr lang="en" sz="1048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:  divides distances into three categories: “near” (0-9 mi), “hot-zone” (9-15 mi), and “far” (15 mi+) </a:t>
            </a:r>
            <a:endParaRPr sz="19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18" title="Screenshot 2026-07-22 at 2.38.4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6225" y="1925364"/>
            <a:ext cx="3907500" cy="2501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460950" y="493000"/>
            <a:ext cx="84744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Score Feature Decreased MAE by </a:t>
            </a:r>
            <a:r>
              <a:rPr b="1" lang="en">
                <a:solidFill>
                  <a:srgbClr val="351C75"/>
                </a:solidFill>
              </a:rPr>
              <a:t>1.01%</a:t>
            </a:r>
            <a:r>
              <a:rPr lang="en"/>
              <a:t> 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5935550" y="1833075"/>
            <a:ext cx="2675100" cy="17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35"/>
              <a:t>4,813 Points of Interest Tested:</a:t>
            </a:r>
            <a:br>
              <a:rPr b="1" lang="en" sz="1435"/>
            </a:br>
            <a:r>
              <a:rPr lang="en" sz="935"/>
              <a:t>(Data queried from OpenStreetMap)</a:t>
            </a:r>
            <a:endParaRPr sz="935"/>
          </a:p>
          <a:p>
            <a:pPr indent="-29391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327"/>
              <a:t>Coffee Shops  (299)</a:t>
            </a:r>
            <a:endParaRPr sz="1327"/>
          </a:p>
          <a:p>
            <a:pPr indent="-29391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27"/>
              <a:t>Grocery Stores  (680)</a:t>
            </a:r>
            <a:endParaRPr sz="1327"/>
          </a:p>
          <a:p>
            <a:pPr indent="-29391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27"/>
              <a:t>Restaurants  (3638)</a:t>
            </a:r>
            <a:endParaRPr sz="1327"/>
          </a:p>
          <a:p>
            <a:pPr indent="-29391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327"/>
              <a:t>Bars/Nightclubs  (196)</a:t>
            </a:r>
            <a:endParaRPr sz="1327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200"/>
            </a:br>
            <a:endParaRPr sz="1082"/>
          </a:p>
        </p:txBody>
      </p:sp>
      <p:sp>
        <p:nvSpPr>
          <p:cNvPr id="120" name="Google Shape;120;p19"/>
          <p:cNvSpPr txBox="1"/>
          <p:nvPr/>
        </p:nvSpPr>
        <p:spPr>
          <a:xfrm>
            <a:off x="5844525" y="3368050"/>
            <a:ext cx="30480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</a:pPr>
            <a:r>
              <a:rPr lang="en" sz="108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Rent premium for areas with “urban amenities” vs. POI-sparse areas</a:t>
            </a:r>
            <a:endParaRPr sz="1082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32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82"/>
              <a:buFont typeface="Roboto"/>
              <a:buChar char="●"/>
            </a:pPr>
            <a:r>
              <a:rPr lang="en" sz="108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Recommendation: add “</a:t>
            </a:r>
            <a:r>
              <a:rPr lang="en" sz="108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restaurants</a:t>
            </a:r>
            <a:r>
              <a:rPr lang="en" sz="108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within 0.5 miles” feature</a:t>
            </a:r>
            <a:endParaRPr sz="1082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8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$75.35 -&gt; 74.59   -1.01%</a:t>
            </a:r>
            <a:endParaRPr sz="1082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" name="Google Shape;121;p19" title="Screenshot 2026-07-22 at 2.48.0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25" y="2143925"/>
            <a:ext cx="2808751" cy="283537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623175" y="1833075"/>
            <a:ext cx="32739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4813 POI’s in Atlanta MSA</a:t>
            </a:r>
            <a:endParaRPr b="1" sz="13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19" title="Screenshot 2026-07-18 at 11.02.1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3225" y="1833075"/>
            <a:ext cx="5349299" cy="314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53150" y="721175"/>
            <a:ext cx="82377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80"/>
              <a:t>Features that Failed to Improve Accuracy: Transit Score</a:t>
            </a:r>
            <a:endParaRPr sz="2980"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558675" y="1919075"/>
            <a:ext cx="55395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Data source: queried data from OpenStreetMap API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37 unique MARTA stations</a:t>
            </a:r>
            <a:br>
              <a:rPr lang="en" sz="1200"/>
            </a:b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/>
              <a:t>Features tested:</a:t>
            </a:r>
            <a:endParaRPr b="1" sz="1200"/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Distance:  distance from property to the nearest MARTA station</a:t>
            </a:r>
            <a:endParaRPr sz="1000"/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Density:  number of MARTA station within 1 mile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200"/>
            </a:br>
            <a:endParaRPr sz="1200"/>
          </a:p>
        </p:txBody>
      </p:sp>
      <p:pic>
        <p:nvPicPr>
          <p:cNvPr id="130" name="Google Shape;130;p20" title="Screenshot 2026-07-16 at 1.23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00" y="2027550"/>
            <a:ext cx="2902050" cy="295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 title="Screenshot 2026-07-20 at 12.37.1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6650" y="3116694"/>
            <a:ext cx="4411973" cy="115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3604275" y="4381375"/>
            <a:ext cx="54483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Explanation: Areas with good Transit Score might already be captured by other existing features (sub-market, zipcode, etc.), making this feature redundant</a:t>
            </a:r>
            <a:endParaRPr sz="1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" name="Google Shape;133;p20" title="Screenshot 2026-07-20 at 12.54.09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5950" y="1823075"/>
            <a:ext cx="4937909" cy="315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833925" y="1718699"/>
            <a:ext cx="3010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Map of MARTA Stations</a:t>
            </a:r>
            <a:endParaRPr b="1" sz="13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460950" y="7211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80"/>
              <a:t>Features that Failed to Improve Accuracy:</a:t>
            </a:r>
            <a:endParaRPr sz="29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80"/>
              <a:t>Highway Proximity</a:t>
            </a:r>
            <a:r>
              <a:rPr lang="en" sz="2980"/>
              <a:t> </a:t>
            </a:r>
            <a:endParaRPr sz="2980"/>
          </a:p>
        </p:txBody>
      </p:sp>
      <p:pic>
        <p:nvPicPr>
          <p:cNvPr id="140" name="Google Shape;140;p21" title="Screenshot 2026-07-20 at 11.35.0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75" y="2132875"/>
            <a:ext cx="2889799" cy="284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 title="Screenshot 2026-07-20 at 2.48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9200" y="4281600"/>
            <a:ext cx="4333224" cy="76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4244350" y="1882150"/>
            <a:ext cx="3886200" cy="21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jfljdsfkdjflkjsdflksfjljd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1" title="Screenshot 2026-07-20 at 2.42.5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9200" y="1865700"/>
            <a:ext cx="4333223" cy="245364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605625" y="1821825"/>
            <a:ext cx="2843700" cy="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I-285 Highway Points (every 0.25 km)</a:t>
            </a:r>
            <a:endParaRPr b="1" sz="12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471900" y="4929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Next Steps</a:t>
            </a:r>
            <a:endParaRPr sz="3600"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Continue to explore the Atlanta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Experiment</a:t>
            </a:r>
            <a:r>
              <a:rPr lang="en"/>
              <a:t> with other geospatial </a:t>
            </a:r>
            <a:r>
              <a:rPr lang="en"/>
              <a:t>features</a:t>
            </a:r>
            <a:r>
              <a:rPr lang="en"/>
              <a:t> to get a better understanding of what the model likes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Multi-MSA generalization: Expand model to other MSA markets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Re-curate geospatial coordinates for the new MSA (landmarks, sub-market, etc.)</a:t>
            </a:r>
            <a:endParaRPr/>
          </a:p>
        </p:txBody>
      </p:sp>
      <p:pic>
        <p:nvPicPr>
          <p:cNvPr id="151" name="Google Shape;151;p22" title="Screenshot 2026-07-20 at 2.56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00" y="2047712"/>
            <a:ext cx="8755377" cy="24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471900" y="51967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Thank You!</a:t>
            </a:r>
            <a:endParaRPr b="1" sz="3600"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